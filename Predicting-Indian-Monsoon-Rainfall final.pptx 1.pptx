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aleway" pitchFamily="2" charset="0"/>
      <p:regular r:id="rId18"/>
      <p:bold r:id="rId19"/>
    </p:embeddedFont>
    <p:embeddedFont>
      <p:font typeface="Roboto" panose="02000000000000000000" pitchFamily="2" charset="0"/>
      <p:regular r:id="rId20"/>
      <p:bold r:id="rId21"/>
      <p:italic r:id="rId22"/>
    </p:embeddedFont>
    <p:embeddedFont>
      <p:font typeface="Roboto Bold" panose="02000000000000000000" charset="0"/>
      <p:regular r:id="rId23"/>
    </p:embeddedFont>
    <p:embeddedFont>
      <p:font typeface="Roboto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954364"/>
            <a:ext cx="11309151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Predicting Indian Monsoon Rainfall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953744"/>
            <a:ext cx="10416629" cy="411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Approach using NumPy and Linear Regression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755184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By Ankit Prajapati | CC25MTECH11005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24954" y="619571"/>
            <a:ext cx="5892850" cy="76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1. Project Objective: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4954" y="1864667"/>
            <a:ext cx="9752708" cy="83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core goal of this project was to build a simple machine learning model to predict seasonal Indian monsoon rainfall (June - September).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0191" y="2964954"/>
            <a:ext cx="9762232" cy="2423518"/>
            <a:chOff x="0" y="0"/>
            <a:chExt cx="13016310" cy="323135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13003530" cy="3218688"/>
            </a:xfrm>
            <a:custGeom>
              <a:avLst/>
              <a:gdLst/>
              <a:ahLst/>
              <a:cxnLst/>
              <a:rect l="l" t="t" r="r" b="b"/>
              <a:pathLst>
                <a:path w="13003530" h="3218688">
                  <a:moveTo>
                    <a:pt x="0" y="131953"/>
                  </a:moveTo>
                  <a:cubicBezTo>
                    <a:pt x="0" y="59055"/>
                    <a:pt x="59309" y="0"/>
                    <a:pt x="132334" y="0"/>
                  </a:cubicBezTo>
                  <a:lnTo>
                    <a:pt x="12871196" y="0"/>
                  </a:lnTo>
                  <a:cubicBezTo>
                    <a:pt x="12944348" y="0"/>
                    <a:pt x="13003530" y="59055"/>
                    <a:pt x="13003530" y="131953"/>
                  </a:cubicBezTo>
                  <a:lnTo>
                    <a:pt x="13003530" y="3086608"/>
                  </a:lnTo>
                  <a:cubicBezTo>
                    <a:pt x="13003530" y="3159506"/>
                    <a:pt x="12944221" y="3218561"/>
                    <a:pt x="12871196" y="3218561"/>
                  </a:cubicBezTo>
                  <a:lnTo>
                    <a:pt x="132334" y="3218561"/>
                  </a:lnTo>
                  <a:cubicBezTo>
                    <a:pt x="59309" y="3218688"/>
                    <a:pt x="0" y="3159506"/>
                    <a:pt x="0" y="308660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3016230" cy="3231388"/>
            </a:xfrm>
            <a:custGeom>
              <a:avLst/>
              <a:gdLst/>
              <a:ahLst/>
              <a:cxnLst/>
              <a:rect l="l" t="t" r="r" b="b"/>
              <a:pathLst>
                <a:path w="13016230" h="3231388">
                  <a:moveTo>
                    <a:pt x="0" y="138303"/>
                  </a:moveTo>
                  <a:cubicBezTo>
                    <a:pt x="0" y="61976"/>
                    <a:pt x="62103" y="0"/>
                    <a:pt x="138684" y="0"/>
                  </a:cubicBezTo>
                  <a:lnTo>
                    <a:pt x="12877546" y="0"/>
                  </a:lnTo>
                  <a:lnTo>
                    <a:pt x="12877546" y="6350"/>
                  </a:lnTo>
                  <a:lnTo>
                    <a:pt x="12877546" y="0"/>
                  </a:lnTo>
                  <a:cubicBezTo>
                    <a:pt x="12954127" y="0"/>
                    <a:pt x="13016230" y="61976"/>
                    <a:pt x="13016230" y="138303"/>
                  </a:cubicBezTo>
                  <a:lnTo>
                    <a:pt x="13009880" y="138303"/>
                  </a:lnTo>
                  <a:lnTo>
                    <a:pt x="13016230" y="138303"/>
                  </a:lnTo>
                  <a:lnTo>
                    <a:pt x="13016230" y="3092958"/>
                  </a:lnTo>
                  <a:lnTo>
                    <a:pt x="13009880" y="3092958"/>
                  </a:lnTo>
                  <a:lnTo>
                    <a:pt x="13016230" y="3092958"/>
                  </a:lnTo>
                  <a:cubicBezTo>
                    <a:pt x="13016230" y="3169412"/>
                    <a:pt x="12954127" y="3231261"/>
                    <a:pt x="12877546" y="3231261"/>
                  </a:cubicBezTo>
                  <a:lnTo>
                    <a:pt x="12877546" y="3224911"/>
                  </a:lnTo>
                  <a:lnTo>
                    <a:pt x="12877546" y="3231261"/>
                  </a:lnTo>
                  <a:lnTo>
                    <a:pt x="138684" y="3231261"/>
                  </a:lnTo>
                  <a:lnTo>
                    <a:pt x="138684" y="3224911"/>
                  </a:lnTo>
                  <a:lnTo>
                    <a:pt x="138684" y="3231261"/>
                  </a:lnTo>
                  <a:cubicBezTo>
                    <a:pt x="62103" y="3231388"/>
                    <a:pt x="0" y="3169412"/>
                    <a:pt x="0" y="3092958"/>
                  </a:cubicBezTo>
                  <a:lnTo>
                    <a:pt x="0" y="138303"/>
                  </a:lnTo>
                  <a:lnTo>
                    <a:pt x="6350" y="138303"/>
                  </a:lnTo>
                  <a:lnTo>
                    <a:pt x="0" y="138303"/>
                  </a:lnTo>
                  <a:moveTo>
                    <a:pt x="12700" y="138303"/>
                  </a:moveTo>
                  <a:lnTo>
                    <a:pt x="12700" y="3092958"/>
                  </a:lnTo>
                  <a:lnTo>
                    <a:pt x="6350" y="3092958"/>
                  </a:lnTo>
                  <a:lnTo>
                    <a:pt x="12700" y="3092958"/>
                  </a:lnTo>
                  <a:cubicBezTo>
                    <a:pt x="12700" y="3162300"/>
                    <a:pt x="69088" y="3218561"/>
                    <a:pt x="138684" y="3218561"/>
                  </a:cubicBezTo>
                  <a:lnTo>
                    <a:pt x="12877546" y="3218561"/>
                  </a:lnTo>
                  <a:cubicBezTo>
                    <a:pt x="12947142" y="3218561"/>
                    <a:pt x="13003530" y="3162300"/>
                    <a:pt x="13003530" y="3092958"/>
                  </a:cubicBezTo>
                  <a:lnTo>
                    <a:pt x="13003530" y="138303"/>
                  </a:lnTo>
                  <a:cubicBezTo>
                    <a:pt x="13003530" y="68961"/>
                    <a:pt x="12947142" y="12700"/>
                    <a:pt x="12877546" y="12700"/>
                  </a:cubicBezTo>
                  <a:lnTo>
                    <a:pt x="138684" y="12700"/>
                  </a:lnTo>
                  <a:lnTo>
                    <a:pt x="138684" y="6350"/>
                  </a:lnTo>
                  <a:lnTo>
                    <a:pt x="138684" y="12700"/>
                  </a:lnTo>
                  <a:cubicBezTo>
                    <a:pt x="69088" y="12700"/>
                    <a:pt x="12700" y="68961"/>
                    <a:pt x="12700" y="138303"/>
                  </a:cubicBezTo>
                  <a:close/>
                </a:path>
              </a:pathLst>
            </a:custGeom>
            <a:solidFill>
              <a:srgbClr val="12386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70074" y="3214836"/>
            <a:ext cx="707082" cy="707083"/>
            <a:chOff x="0" y="0"/>
            <a:chExt cx="942777" cy="9427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2721" cy="942721"/>
            </a:xfrm>
            <a:custGeom>
              <a:avLst/>
              <a:gdLst/>
              <a:ahLst/>
              <a:cxnLst/>
              <a:rect l="l" t="t" r="r" b="b"/>
              <a:pathLst>
                <a:path w="942721" h="942721">
                  <a:moveTo>
                    <a:pt x="0" y="471424"/>
                  </a:moveTo>
                  <a:cubicBezTo>
                    <a:pt x="0" y="211074"/>
                    <a:pt x="211074" y="0"/>
                    <a:pt x="471424" y="0"/>
                  </a:cubicBezTo>
                  <a:cubicBezTo>
                    <a:pt x="731774" y="0"/>
                    <a:pt x="942721" y="211074"/>
                    <a:pt x="942721" y="471424"/>
                  </a:cubicBezTo>
                  <a:cubicBezTo>
                    <a:pt x="942721" y="731774"/>
                    <a:pt x="731774" y="942721"/>
                    <a:pt x="471424" y="942721"/>
                  </a:cubicBezTo>
                  <a:cubicBezTo>
                    <a:pt x="211074" y="942721"/>
                    <a:pt x="0" y="731774"/>
                    <a:pt x="0" y="471424"/>
                  </a:cubicBezTo>
                  <a:close/>
                </a:path>
              </a:pathLst>
            </a:custGeom>
            <a:solidFill>
              <a:srgbClr val="12386E"/>
            </a:solidFill>
          </p:spPr>
        </p:sp>
      </p:grpSp>
      <p:sp>
        <p:nvSpPr>
          <p:cNvPr id="13" name="Freeform 13" descr="preencoded.png"/>
          <p:cNvSpPr/>
          <p:nvPr/>
        </p:nvSpPr>
        <p:spPr>
          <a:xfrm>
            <a:off x="1264444" y="3409206"/>
            <a:ext cx="318195" cy="318195"/>
          </a:xfrm>
          <a:custGeom>
            <a:avLst/>
            <a:gdLst/>
            <a:ahLst/>
            <a:cxnLst/>
            <a:rect l="l" t="t" r="r" b="b"/>
            <a:pathLst>
              <a:path w="318195" h="318195">
                <a:moveTo>
                  <a:pt x="0" y="0"/>
                </a:moveTo>
                <a:lnTo>
                  <a:pt x="318195" y="0"/>
                </a:lnTo>
                <a:lnTo>
                  <a:pt x="318195" y="318195"/>
                </a:lnTo>
                <a:lnTo>
                  <a:pt x="0" y="31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823" b="-882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70074" y="4138464"/>
            <a:ext cx="2946350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Target Variable (Y)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0074" y="4675734"/>
            <a:ext cx="9262468" cy="46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Summer Rainfall:</a:t>
            </a: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Total seasonal precipitation over India.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0191" y="5614541"/>
            <a:ext cx="9762232" cy="2423518"/>
            <a:chOff x="0" y="0"/>
            <a:chExt cx="13016310" cy="3231357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13003530" cy="3218688"/>
            </a:xfrm>
            <a:custGeom>
              <a:avLst/>
              <a:gdLst/>
              <a:ahLst/>
              <a:cxnLst/>
              <a:rect l="l" t="t" r="r" b="b"/>
              <a:pathLst>
                <a:path w="13003530" h="3218688">
                  <a:moveTo>
                    <a:pt x="0" y="131953"/>
                  </a:moveTo>
                  <a:cubicBezTo>
                    <a:pt x="0" y="59055"/>
                    <a:pt x="59309" y="0"/>
                    <a:pt x="132334" y="0"/>
                  </a:cubicBezTo>
                  <a:lnTo>
                    <a:pt x="12871196" y="0"/>
                  </a:lnTo>
                  <a:cubicBezTo>
                    <a:pt x="12944348" y="0"/>
                    <a:pt x="13003530" y="59055"/>
                    <a:pt x="13003530" y="131953"/>
                  </a:cubicBezTo>
                  <a:lnTo>
                    <a:pt x="13003530" y="3086608"/>
                  </a:lnTo>
                  <a:cubicBezTo>
                    <a:pt x="13003530" y="3159506"/>
                    <a:pt x="12944221" y="3218561"/>
                    <a:pt x="12871196" y="3218561"/>
                  </a:cubicBezTo>
                  <a:lnTo>
                    <a:pt x="132334" y="3218561"/>
                  </a:lnTo>
                  <a:cubicBezTo>
                    <a:pt x="59309" y="3218688"/>
                    <a:pt x="0" y="3159506"/>
                    <a:pt x="0" y="308660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3016230" cy="3231388"/>
            </a:xfrm>
            <a:custGeom>
              <a:avLst/>
              <a:gdLst/>
              <a:ahLst/>
              <a:cxnLst/>
              <a:rect l="l" t="t" r="r" b="b"/>
              <a:pathLst>
                <a:path w="13016230" h="3231388">
                  <a:moveTo>
                    <a:pt x="0" y="138303"/>
                  </a:moveTo>
                  <a:cubicBezTo>
                    <a:pt x="0" y="61976"/>
                    <a:pt x="62103" y="0"/>
                    <a:pt x="138684" y="0"/>
                  </a:cubicBezTo>
                  <a:lnTo>
                    <a:pt x="12877546" y="0"/>
                  </a:lnTo>
                  <a:lnTo>
                    <a:pt x="12877546" y="6350"/>
                  </a:lnTo>
                  <a:lnTo>
                    <a:pt x="12877546" y="0"/>
                  </a:lnTo>
                  <a:cubicBezTo>
                    <a:pt x="12954127" y="0"/>
                    <a:pt x="13016230" y="61976"/>
                    <a:pt x="13016230" y="138303"/>
                  </a:cubicBezTo>
                  <a:lnTo>
                    <a:pt x="13009880" y="138303"/>
                  </a:lnTo>
                  <a:lnTo>
                    <a:pt x="13016230" y="138303"/>
                  </a:lnTo>
                  <a:lnTo>
                    <a:pt x="13016230" y="3092958"/>
                  </a:lnTo>
                  <a:lnTo>
                    <a:pt x="13009880" y="3092958"/>
                  </a:lnTo>
                  <a:lnTo>
                    <a:pt x="13016230" y="3092958"/>
                  </a:lnTo>
                  <a:cubicBezTo>
                    <a:pt x="13016230" y="3169412"/>
                    <a:pt x="12954127" y="3231261"/>
                    <a:pt x="12877546" y="3231261"/>
                  </a:cubicBezTo>
                  <a:lnTo>
                    <a:pt x="12877546" y="3224911"/>
                  </a:lnTo>
                  <a:lnTo>
                    <a:pt x="12877546" y="3231261"/>
                  </a:lnTo>
                  <a:lnTo>
                    <a:pt x="138684" y="3231261"/>
                  </a:lnTo>
                  <a:lnTo>
                    <a:pt x="138684" y="3224911"/>
                  </a:lnTo>
                  <a:lnTo>
                    <a:pt x="138684" y="3231261"/>
                  </a:lnTo>
                  <a:cubicBezTo>
                    <a:pt x="62103" y="3231388"/>
                    <a:pt x="0" y="3169412"/>
                    <a:pt x="0" y="3092958"/>
                  </a:cubicBezTo>
                  <a:lnTo>
                    <a:pt x="0" y="138303"/>
                  </a:lnTo>
                  <a:lnTo>
                    <a:pt x="6350" y="138303"/>
                  </a:lnTo>
                  <a:lnTo>
                    <a:pt x="0" y="138303"/>
                  </a:lnTo>
                  <a:moveTo>
                    <a:pt x="12700" y="138303"/>
                  </a:moveTo>
                  <a:lnTo>
                    <a:pt x="12700" y="3092958"/>
                  </a:lnTo>
                  <a:lnTo>
                    <a:pt x="6350" y="3092958"/>
                  </a:lnTo>
                  <a:lnTo>
                    <a:pt x="12700" y="3092958"/>
                  </a:lnTo>
                  <a:cubicBezTo>
                    <a:pt x="12700" y="3162300"/>
                    <a:pt x="69088" y="3218561"/>
                    <a:pt x="138684" y="3218561"/>
                  </a:cubicBezTo>
                  <a:lnTo>
                    <a:pt x="12877546" y="3218561"/>
                  </a:lnTo>
                  <a:cubicBezTo>
                    <a:pt x="12947142" y="3218561"/>
                    <a:pt x="13003530" y="3162300"/>
                    <a:pt x="13003530" y="3092958"/>
                  </a:cubicBezTo>
                  <a:lnTo>
                    <a:pt x="13003530" y="138303"/>
                  </a:lnTo>
                  <a:cubicBezTo>
                    <a:pt x="13003530" y="68961"/>
                    <a:pt x="12947142" y="12700"/>
                    <a:pt x="12877546" y="12700"/>
                  </a:cubicBezTo>
                  <a:lnTo>
                    <a:pt x="138684" y="12700"/>
                  </a:lnTo>
                  <a:lnTo>
                    <a:pt x="138684" y="6350"/>
                  </a:lnTo>
                  <a:lnTo>
                    <a:pt x="138684" y="12700"/>
                  </a:lnTo>
                  <a:cubicBezTo>
                    <a:pt x="69088" y="12700"/>
                    <a:pt x="12700" y="68961"/>
                    <a:pt x="12700" y="138303"/>
                  </a:cubicBezTo>
                  <a:close/>
                </a:path>
              </a:pathLst>
            </a:custGeom>
            <a:solidFill>
              <a:srgbClr val="6296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70074" y="5864424"/>
            <a:ext cx="707082" cy="707082"/>
            <a:chOff x="0" y="0"/>
            <a:chExt cx="942777" cy="94277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42721" cy="942721"/>
            </a:xfrm>
            <a:custGeom>
              <a:avLst/>
              <a:gdLst/>
              <a:ahLst/>
              <a:cxnLst/>
              <a:rect l="l" t="t" r="r" b="b"/>
              <a:pathLst>
                <a:path w="942721" h="942721">
                  <a:moveTo>
                    <a:pt x="0" y="471424"/>
                  </a:moveTo>
                  <a:cubicBezTo>
                    <a:pt x="0" y="211074"/>
                    <a:pt x="211074" y="0"/>
                    <a:pt x="471424" y="0"/>
                  </a:cubicBezTo>
                  <a:cubicBezTo>
                    <a:pt x="731774" y="0"/>
                    <a:pt x="942721" y="211074"/>
                    <a:pt x="942721" y="471424"/>
                  </a:cubicBezTo>
                  <a:cubicBezTo>
                    <a:pt x="942721" y="731774"/>
                    <a:pt x="731774" y="942721"/>
                    <a:pt x="471424" y="942721"/>
                  </a:cubicBezTo>
                  <a:cubicBezTo>
                    <a:pt x="211074" y="942721"/>
                    <a:pt x="0" y="731774"/>
                    <a:pt x="0" y="471424"/>
                  </a:cubicBezTo>
                  <a:close/>
                </a:path>
              </a:pathLst>
            </a:custGeom>
            <a:solidFill>
              <a:srgbClr val="6296FF"/>
            </a:solidFill>
          </p:spPr>
        </p:sp>
      </p:grpSp>
      <p:sp>
        <p:nvSpPr>
          <p:cNvPr id="21" name="Freeform 21" descr="preencoded.png"/>
          <p:cNvSpPr/>
          <p:nvPr/>
        </p:nvSpPr>
        <p:spPr>
          <a:xfrm>
            <a:off x="1264444" y="6058792"/>
            <a:ext cx="318195" cy="318195"/>
          </a:xfrm>
          <a:custGeom>
            <a:avLst/>
            <a:gdLst/>
            <a:ahLst/>
            <a:cxnLst/>
            <a:rect l="l" t="t" r="r" b="b"/>
            <a:pathLst>
              <a:path w="318195" h="318195">
                <a:moveTo>
                  <a:pt x="0" y="0"/>
                </a:moveTo>
                <a:lnTo>
                  <a:pt x="318195" y="0"/>
                </a:lnTo>
                <a:lnTo>
                  <a:pt x="318195" y="318196"/>
                </a:lnTo>
                <a:lnTo>
                  <a:pt x="0" y="318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823" r="-882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70074" y="6788051"/>
            <a:ext cx="2946350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Features (X)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0074" y="7325320"/>
            <a:ext cx="9262468" cy="46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Winter SST:</a:t>
            </a: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Sea Surface Temperature (Dec - Feb) from the Pacific and Indian Oceans.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4954" y="8212634"/>
            <a:ext cx="9752708" cy="121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primary objective was to build the </a:t>
            </a:r>
            <a:r>
              <a:rPr lang="en-US" sz="1812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entire</a:t>
            </a:r>
            <a:r>
              <a:rPr lang="en-US" sz="181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model implementation—from data preparation to training and evaluation—using numpy exclusively. This constraint was imposed to ensure a deep, non-abstracted understanding of the full data science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6044" y="361206"/>
            <a:ext cx="807288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2. The Data &amp; Initial Challenge: Too Many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044" y="870347"/>
            <a:ext cx="2265610" cy="2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Climate Data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6044" y="1310580"/>
            <a:ext cx="1729591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750"/>
              </a:lnSpc>
              <a:buFont typeface="Arial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Rainfall (Y):</a:t>
            </a:r>
            <a:r>
              <a:rPr lang="en-US" sz="16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Data from 1961-2020. We averaged it to get one rainfall number for each year (total 60 years).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044" y="1701142"/>
            <a:ext cx="17295911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750"/>
              </a:lnSpc>
              <a:buFont typeface="Arial"/>
              <a:buChar char="•"/>
            </a:pPr>
            <a:r>
              <a:rPr lang="en-US" sz="16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SST (X):</a:t>
            </a:r>
            <a:r>
              <a:rPr lang="en-US" sz="16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Sea Surface Temperature data from 1960-2020. This data came as a 3D grid: (time, latitude, longitude).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62000" y="2287035"/>
            <a:ext cx="11467356" cy="7644904"/>
            <a:chOff x="0" y="0"/>
            <a:chExt cx="19507200" cy="13004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9507200" cy="13004800"/>
            </a:xfrm>
            <a:custGeom>
              <a:avLst/>
              <a:gdLst/>
              <a:ahLst/>
              <a:cxnLst/>
              <a:rect l="l" t="t" r="r" b="b"/>
              <a:pathLst>
                <a:path w="19507200" h="13004800">
                  <a:moveTo>
                    <a:pt x="0" y="0"/>
                  </a:moveTo>
                  <a:lnTo>
                    <a:pt x="19507200" y="0"/>
                  </a:lnTo>
                  <a:lnTo>
                    <a:pt x="1950720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96044" y="12609462"/>
            <a:ext cx="2500610" cy="23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Challenge: Too Many Features!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6044" y="12995821"/>
            <a:ext cx="17295911" cy="28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When we tried to flatten the 3D SST data into a simpler list for our model, we ended up with a huge problem. We had </a:t>
            </a:r>
            <a:r>
              <a:rPr lang="en-US" sz="1062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135,201 features</a:t>
            </a:r>
            <a:r>
              <a:rPr lang="en-US" sz="1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(like individual pixels) but only </a:t>
            </a:r>
            <a:r>
              <a:rPr lang="en-US" sz="1062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60 samples</a:t>
            </a:r>
            <a:r>
              <a:rPr lang="en-US" sz="1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(years of data). This was way too much data for our computer to handle, causing a </a:t>
            </a:r>
            <a:r>
              <a:rPr lang="en-US" sz="1062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MemoryError</a:t>
            </a:r>
            <a:r>
              <a:rPr lang="en-US" sz="1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62607" y="649189"/>
            <a:ext cx="10509051" cy="79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3. Solution (Part 1): Exploring the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2607" y="1517897"/>
            <a:ext cx="4737199" cy="49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Finding the Important Areas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2607" y="2292549"/>
            <a:ext cx="16562785" cy="87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 fix the computer memory problem, I needed to find only the few ocean areas (SST regions) that really affected the monsoon, instead of using all 135,000 grid points.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2607" y="3358306"/>
            <a:ext cx="16562785" cy="88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 used a simple computer script (numpy loop) to check how well the 60-year rainfall data matched up with the temperature data from </a:t>
            </a:r>
            <a:r>
              <a:rPr lang="en-US" sz="1937" i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each single ocean grid point</a:t>
            </a:r>
            <a:r>
              <a:rPr lang="en-US" sz="193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2607" y="4242495"/>
            <a:ext cx="16562785" cy="47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 put all these results into a new map, called the </a:t>
            </a:r>
            <a:r>
              <a:rPr lang="en-US" sz="193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Correlation Map</a:t>
            </a:r>
            <a:r>
              <a:rPr lang="en-US" sz="193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2607" y="4722911"/>
            <a:ext cx="16562785" cy="87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062"/>
              </a:lnSpc>
              <a:buFont typeface="Arial"/>
              <a:buChar char="•"/>
            </a:pPr>
            <a:r>
              <a:rPr lang="en-US" sz="193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map uses colors to show how strongly things are connected (from -1.0 to +1.0). It clearly showed the most important ocean areas, like the red spot in the central Pacific linked to El Niño.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62607" y="5874395"/>
            <a:ext cx="7858125" cy="3981450"/>
            <a:chOff x="0" y="0"/>
            <a:chExt cx="10477500" cy="53086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0477500" cy="5308600"/>
            </a:xfrm>
            <a:custGeom>
              <a:avLst/>
              <a:gdLst/>
              <a:ahLst/>
              <a:cxnLst/>
              <a:rect l="l" t="t" r="r" b="b"/>
              <a:pathLst>
                <a:path w="10477500" h="5308600">
                  <a:moveTo>
                    <a:pt x="0" y="0"/>
                  </a:moveTo>
                  <a:lnTo>
                    <a:pt x="10477500" y="0"/>
                  </a:lnTo>
                  <a:lnTo>
                    <a:pt x="10477500" y="5308600"/>
                  </a:lnTo>
                  <a:lnTo>
                    <a:pt x="0" y="530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615976"/>
            <a:ext cx="16076562" cy="834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4. Solution (Part 2): Strategic Feature Selection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615356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1. Filter by Correlation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505497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correlation map showed that huge parts of the ocean had almost no connection to the monsoon ("noise"). We only needed the areas with the strongest signal.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904631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2. Identify Top Indices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794772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 used np.argsort() on the correlation numbers to find the most important points.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749802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3. Final Feature Set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639942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 picked the </a:t>
            </a: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Top 100 points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(pixels) with the strongest connection. This cut down the number of features from 135,201 to just </a:t>
            </a: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100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 fixing the memory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91182" y="662136"/>
            <a:ext cx="17168218" cy="1544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5. The Model: Linear Regression (Implemented with NumPy)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182" y="2714923"/>
            <a:ext cx="16505635" cy="493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Instead of using an external library, the standard linear regression model was implemented directly using the </a:t>
            </a:r>
            <a:r>
              <a:rPr lang="en-US" sz="20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Normal Equation</a:t>
            </a: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1182" y="3570834"/>
            <a:ext cx="3819525" cy="49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Training the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1182" y="4363343"/>
            <a:ext cx="16505635" cy="90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Normal Equation provides a direct way to find the best set of weights (theta) for our model. This minimizes the error (Residual Sum of Squares, RSS).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91182" y="5585966"/>
            <a:ext cx="16505635" cy="444401"/>
            <a:chOff x="0" y="0"/>
            <a:chExt cx="22007513" cy="59253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2007576" cy="592582"/>
            </a:xfrm>
            <a:custGeom>
              <a:avLst/>
              <a:gdLst/>
              <a:ahLst/>
              <a:cxnLst/>
              <a:rect l="l" t="t" r="r" b="b"/>
              <a:pathLst>
                <a:path w="22007576" h="592582">
                  <a:moveTo>
                    <a:pt x="0" y="0"/>
                  </a:moveTo>
                  <a:lnTo>
                    <a:pt x="22007576" y="0"/>
                  </a:lnTo>
                  <a:lnTo>
                    <a:pt x="22007576" y="592582"/>
                  </a:lnTo>
                  <a:lnTo>
                    <a:pt x="0" y="592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4" b="-35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91182" y="6266855"/>
            <a:ext cx="16505635" cy="493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means we can calculate the answer directly without needing to try different values over and over, like with Gradient Descent.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182" y="7122765"/>
            <a:ext cx="3819525" cy="49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Splitting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1182" y="7915275"/>
            <a:ext cx="16505635" cy="493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 fairly check how well our model predicts new data, we split the 60 years of data into two parts: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1182" y="8608962"/>
            <a:ext cx="1650563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Training Set:</a:t>
            </a: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1961 - 2005 (This data was used to find the theta values).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1182" y="9105305"/>
            <a:ext cx="16505635" cy="493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Test Set:</a:t>
            </a: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2006 - 2020 (This data was used to see how well the model works on data it hasn't seen before).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5372" y="627758"/>
            <a:ext cx="15547628" cy="701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6. Challenge #2: The Singular Matrix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5372" y="1979562"/>
            <a:ext cx="3580060" cy="466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LinAlgError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5372" y="2598985"/>
            <a:ext cx="8017520" cy="125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Even with fewer features (down to 100), the model still failed. It showed a LinAlgError: Singular matrix error when trying to do the matrix math for the Normal Equation.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5372" y="3978474"/>
            <a:ext cx="8017520" cy="123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happened because the 100 features were too similar to each other (this is called multicollinearity). When features are too similar, the matrix  cannot be 'inverted', which stops the calculation.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5372" y="5429399"/>
            <a:ext cx="4715768" cy="39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Solution: Ridge Regularization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5372" y="5974259"/>
            <a:ext cx="8017520" cy="84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 make the calculation work, I added a technique called </a:t>
            </a: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Ridge Regularization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5372" y="7043291"/>
            <a:ext cx="2983409" cy="39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How it fixes 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5372" y="7588151"/>
            <a:ext cx="8017520" cy="1231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small extra number (called alpha) is added to the main diagonal of the matrix. This makes sure the matrix can be inverted, so the model can find a stable answer.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5372" y="8948589"/>
            <a:ext cx="8017520" cy="48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After some testing, I found that an alpha value of 500 worked best.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44632" y="1889075"/>
            <a:ext cx="8017520" cy="46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code was changed to look like this: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44632" y="2625179"/>
            <a:ext cx="8017520" cy="2267247"/>
            <a:chOff x="0" y="0"/>
            <a:chExt cx="10690027" cy="30229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89972" cy="3022981"/>
            </a:xfrm>
            <a:custGeom>
              <a:avLst/>
              <a:gdLst/>
              <a:ahLst/>
              <a:cxnLst/>
              <a:rect l="l" t="t" r="r" b="b"/>
              <a:pathLst>
                <a:path w="10689972" h="3022981">
                  <a:moveTo>
                    <a:pt x="0" y="133604"/>
                  </a:moveTo>
                  <a:cubicBezTo>
                    <a:pt x="0" y="59817"/>
                    <a:pt x="59817" y="0"/>
                    <a:pt x="133604" y="0"/>
                  </a:cubicBezTo>
                  <a:lnTo>
                    <a:pt x="10556367" y="0"/>
                  </a:lnTo>
                  <a:cubicBezTo>
                    <a:pt x="10630154" y="0"/>
                    <a:pt x="10689972" y="59817"/>
                    <a:pt x="10689972" y="133604"/>
                  </a:cubicBezTo>
                  <a:lnTo>
                    <a:pt x="10689972" y="2889377"/>
                  </a:lnTo>
                  <a:cubicBezTo>
                    <a:pt x="10689972" y="2963164"/>
                    <a:pt x="10630154" y="3022981"/>
                    <a:pt x="10556367" y="3022981"/>
                  </a:cubicBezTo>
                  <a:lnTo>
                    <a:pt x="133604" y="3022981"/>
                  </a:lnTo>
                  <a:cubicBezTo>
                    <a:pt x="59817" y="3022981"/>
                    <a:pt x="0" y="2963164"/>
                    <a:pt x="0" y="288937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432726" y="2625179"/>
            <a:ext cx="8041333" cy="2267247"/>
            <a:chOff x="0" y="0"/>
            <a:chExt cx="10721777" cy="30229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1848" cy="3022981"/>
            </a:xfrm>
            <a:custGeom>
              <a:avLst/>
              <a:gdLst/>
              <a:ahLst/>
              <a:cxnLst/>
              <a:rect l="l" t="t" r="r" b="b"/>
              <a:pathLst>
                <a:path w="10721848" h="3022981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674096" y="0"/>
                  </a:lnTo>
                  <a:cubicBezTo>
                    <a:pt x="10700512" y="0"/>
                    <a:pt x="10721848" y="21336"/>
                    <a:pt x="10721848" y="47752"/>
                  </a:cubicBezTo>
                  <a:lnTo>
                    <a:pt x="10721848" y="2975229"/>
                  </a:lnTo>
                  <a:cubicBezTo>
                    <a:pt x="10721848" y="3001645"/>
                    <a:pt x="10700512" y="3022981"/>
                    <a:pt x="10674096" y="3022981"/>
                  </a:cubicBezTo>
                  <a:lnTo>
                    <a:pt x="47752" y="3022981"/>
                  </a:lnTo>
                  <a:cubicBezTo>
                    <a:pt x="21336" y="3022981"/>
                    <a:pt x="0" y="3001645"/>
                    <a:pt x="0" y="297522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671298" y="2680246"/>
            <a:ext cx="6940302" cy="1119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# The fix for the </a:t>
            </a:r>
            <a:r>
              <a:rPr lang="en-US" sz="1874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LinAlgErroralpha</a:t>
            </a:r>
            <a:r>
              <a:rPr lang="en-US" sz="1874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= 500identity = </a:t>
            </a:r>
            <a:r>
              <a:rPr lang="en-US" sz="1874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np.eye</a:t>
            </a:r>
            <a:r>
              <a:rPr lang="en-US" sz="1874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(N)</a:t>
            </a:r>
            <a:r>
              <a:rPr lang="en-US" sz="1874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inverse_matrix</a:t>
            </a:r>
            <a:r>
              <a:rPr lang="en-US" sz="1874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74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np.linalg.inv</a:t>
            </a:r>
            <a:r>
              <a:rPr lang="en-US" sz="1874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74" dirty="0" err="1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X_dot_XT</a:t>
            </a:r>
            <a:r>
              <a:rPr lang="en-US" sz="1874" dirty="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rPr>
              <a:t> + identity * alpha)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121122"/>
            <a:ext cx="15390762" cy="834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7. Final Results: Evaluating Predictive Skill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507456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regularized linear model was trained on data from 1961-2005 and tested on data from 2006-2020.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52961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About the R^2 Score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343102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We calculated the R^2 score. It tells us how much of the rainfall changes our model can explain using sea surface temperatures (SST).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569298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If R^2 = 0: Our model isn't predicting anything better than just using the historical average.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122045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If R^2 &gt; 0: Our model has some ability to predict.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067550"/>
            <a:ext cx="5698480" cy="73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Final R^2 Score: 0.087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8134796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score is positive, even if it's a small number. It means our model found a real connection between winter SST patterns and summer monsoon rain.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27050" y="1317724"/>
            <a:ext cx="17437150" cy="784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8. Result Visualization: Actual vs. Predicted Rainfall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27050" y="2878782"/>
            <a:ext cx="6553200" cy="5191125"/>
            <a:chOff x="0" y="0"/>
            <a:chExt cx="8737600" cy="69215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8737600" cy="6921500"/>
            </a:xfrm>
            <a:custGeom>
              <a:avLst/>
              <a:gdLst/>
              <a:ahLst/>
              <a:cxnLst/>
              <a:rect l="l" t="t" r="r" b="b"/>
              <a:pathLst>
                <a:path w="8737600" h="6921500">
                  <a:moveTo>
                    <a:pt x="0" y="0"/>
                  </a:moveTo>
                  <a:lnTo>
                    <a:pt x="8737600" y="0"/>
                  </a:lnTo>
                  <a:lnTo>
                    <a:pt x="8737600" y="6921500"/>
                  </a:lnTo>
                  <a:lnTo>
                    <a:pt x="0" y="692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330606" y="2826544"/>
            <a:ext cx="7030344" cy="470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Interpreting the Scatter Plot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0606" y="3521274"/>
            <a:ext cx="703971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X-axis shows the observed (actual) rainfall for the 2006-2020 test years.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0606" y="4461570"/>
            <a:ext cx="7039719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Y-axis shows the rainfall predicted by the model.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30606" y="4978004"/>
            <a:ext cx="7039719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Red Dashed Line represents a "Perfect Fit" (where Actual = Predicted).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30606" y="6064002"/>
            <a:ext cx="7039719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blue dots on the graph generally follow an upward trend, which shows that our model has some success in predicting rainfall. It's not a perfect match to the red line, but the positive R^2 score of 0.087 means our model is better than just random guesses based on the historical average.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9390" y="631031"/>
            <a:ext cx="12495609" cy="711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9. Conclusion &amp; Key Takeaways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9391" y="1803052"/>
            <a:ext cx="16609219" cy="8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final </a:t>
            </a: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0.087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suggests that while winter SST has a detectable relationship with monsoon rainfall, a simple linear model is insufficient to model the highly complex, non-linear dynamics of the climate system. However, the success lies in the execution of the </a:t>
            </a:r>
            <a:r>
              <a:rPr lang="en-US" sz="1874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core objective</a:t>
            </a: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9391" y="2987576"/>
            <a:ext cx="2998142" cy="4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Handling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9391" y="3664892"/>
            <a:ext cx="16609219" cy="488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Successfully prepared and manipulated large, multi-dimensional climate datasets (3D .nc files) using numpy.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9391" y="4484637"/>
            <a:ext cx="2998142" cy="4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Signal Detection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9391" y="5161955"/>
            <a:ext cx="16609219" cy="46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Used Correlation Maps as an EDA technique to visually locate and extract the most significant features from over 135,000 candidates.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9391" y="5962650"/>
            <a:ext cx="3148607" cy="4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Model 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391" y="6639966"/>
            <a:ext cx="16609219" cy="46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Built and trained the entire Linear Regression model from scratch via the Normal Equation.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9391" y="7440662"/>
            <a:ext cx="3004989" cy="40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Debugging &amp; Stability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9391" y="8117979"/>
            <a:ext cx="16609219" cy="488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Successfully debugged the critical LinAlgError by implementing and tuning Ridge Regularization (L2 Penalty).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9391" y="8790683"/>
            <a:ext cx="16609219" cy="8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project proved that a deep understanding of the mathematical foundation (linear algebra) is crucial for effective machine learning development, even before advanced algorithms are applied.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446F31B5-F8BA-DA26-91E0-AE160F5E26B3}"/>
              </a:ext>
            </a:extLst>
          </p:cNvPr>
          <p:cNvSpPr txBox="1"/>
          <p:nvPr/>
        </p:nvSpPr>
        <p:spPr>
          <a:xfrm>
            <a:off x="2895600" y="4309233"/>
            <a:ext cx="11309151" cy="83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“Thank You”</a:t>
            </a:r>
          </a:p>
        </p:txBody>
      </p:sp>
    </p:spTree>
    <p:extLst>
      <p:ext uri="{BB962C8B-B14F-4D97-AF65-F5344CB8AC3E}">
        <p14:creationId xmlns:p14="http://schemas.microsoft.com/office/powerpoint/2010/main" val="347596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1286</Words>
  <Application>Microsoft Office PowerPoint</Application>
  <PresentationFormat>Custom</PresentationFormat>
  <Paragraphs>105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Roboto Bold</vt:lpstr>
      <vt:lpstr>Arial</vt:lpstr>
      <vt:lpstr>Raleway</vt:lpstr>
      <vt:lpstr>Roboto Italics</vt:lpstr>
      <vt:lpstr>Roboto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Predicting-Indian-Monsoon-Rainfall.pptx</dc:title>
  <cp:lastModifiedBy>Santosh Prajapati</cp:lastModifiedBy>
  <cp:revision>3</cp:revision>
  <dcterms:created xsi:type="dcterms:W3CDTF">2006-08-16T00:00:00Z</dcterms:created>
  <dcterms:modified xsi:type="dcterms:W3CDTF">2025-11-06T10:19:00Z</dcterms:modified>
  <dc:identifier>DAG36jcsB3E</dc:identifier>
</cp:coreProperties>
</file>